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72" r:id="rId3"/>
    <p:sldId id="256" r:id="rId4"/>
    <p:sldId id="257" r:id="rId5"/>
    <p:sldId id="267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58" r:id="rId14"/>
    <p:sldId id="259" r:id="rId15"/>
    <p:sldId id="260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8"/>
    <p:restoredTop sz="74746"/>
  </p:normalViewPr>
  <p:slideViewPr>
    <p:cSldViewPr snapToGrid="0" snapToObjects="1">
      <p:cViewPr varScale="1">
        <p:scale>
          <a:sx n="87" d="100"/>
          <a:sy n="87" d="100"/>
        </p:scale>
        <p:origin x="2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A2D5D3-2A16-46E5-B137-3D68180F37A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451B8DE-31E6-4CDE-A31C-8B8EC70FF13B}">
      <dgm:prSet/>
      <dgm:spPr/>
      <dgm:t>
        <a:bodyPr/>
        <a:lstStyle/>
        <a:p>
          <a:r>
            <a:rPr lang="fr-FR"/>
            <a:t>Méthodologie</a:t>
          </a:r>
          <a:endParaRPr lang="en-US"/>
        </a:p>
      </dgm:t>
    </dgm:pt>
    <dgm:pt modelId="{7DA14E55-A347-4E79-B860-07D0DE259A62}" type="parTrans" cxnId="{466FC456-A55E-4EFF-85ED-0C2F84605E91}">
      <dgm:prSet/>
      <dgm:spPr/>
      <dgm:t>
        <a:bodyPr/>
        <a:lstStyle/>
        <a:p>
          <a:endParaRPr lang="en-US"/>
        </a:p>
      </dgm:t>
    </dgm:pt>
    <dgm:pt modelId="{CABE4A6A-720D-4449-9F80-92AFE6277A7F}" type="sibTrans" cxnId="{466FC456-A55E-4EFF-85ED-0C2F84605E91}">
      <dgm:prSet/>
      <dgm:spPr/>
      <dgm:t>
        <a:bodyPr/>
        <a:lstStyle/>
        <a:p>
          <a:endParaRPr lang="en-US"/>
        </a:p>
      </dgm:t>
    </dgm:pt>
    <dgm:pt modelId="{AB6A90BE-131F-4016-8FCA-B8634A0F2618}">
      <dgm:prSet/>
      <dgm:spPr/>
      <dgm:t>
        <a:bodyPr/>
        <a:lstStyle/>
        <a:p>
          <a:r>
            <a:rPr lang="fr-FR"/>
            <a:t>Analyse des indicateurs</a:t>
          </a:r>
          <a:endParaRPr lang="en-US"/>
        </a:p>
      </dgm:t>
    </dgm:pt>
    <dgm:pt modelId="{38D4BD26-8380-4EFA-8E69-5F387F1EB0DE}" type="parTrans" cxnId="{FAC61CC8-BFF0-4462-92E3-036FD88A1DA7}">
      <dgm:prSet/>
      <dgm:spPr/>
      <dgm:t>
        <a:bodyPr/>
        <a:lstStyle/>
        <a:p>
          <a:endParaRPr lang="en-US"/>
        </a:p>
      </dgm:t>
    </dgm:pt>
    <dgm:pt modelId="{83D17F28-9CC5-45F2-9885-A7A2B503C639}" type="sibTrans" cxnId="{FAC61CC8-BFF0-4462-92E3-036FD88A1DA7}">
      <dgm:prSet/>
      <dgm:spPr/>
      <dgm:t>
        <a:bodyPr/>
        <a:lstStyle/>
        <a:p>
          <a:endParaRPr lang="en-US"/>
        </a:p>
      </dgm:t>
    </dgm:pt>
    <dgm:pt modelId="{BEA53D6C-95E6-493E-B57E-40CB9CF317E2}">
      <dgm:prSet/>
      <dgm:spPr/>
      <dgm:t>
        <a:bodyPr/>
        <a:lstStyle/>
        <a:p>
          <a:r>
            <a:rPr lang="fr-FR"/>
            <a:t>Score </a:t>
          </a:r>
          <a:endParaRPr lang="en-US"/>
        </a:p>
      </dgm:t>
    </dgm:pt>
    <dgm:pt modelId="{CA35430E-BBA4-488F-9493-0BA3683D5A27}" type="parTrans" cxnId="{65C3428D-4A38-45E5-89FE-4C0BA1AC9F1A}">
      <dgm:prSet/>
      <dgm:spPr/>
      <dgm:t>
        <a:bodyPr/>
        <a:lstStyle/>
        <a:p>
          <a:endParaRPr lang="en-US"/>
        </a:p>
      </dgm:t>
    </dgm:pt>
    <dgm:pt modelId="{45FE5031-BEAC-4391-9092-CA05DB48ED16}" type="sibTrans" cxnId="{65C3428D-4A38-45E5-89FE-4C0BA1AC9F1A}">
      <dgm:prSet/>
      <dgm:spPr/>
      <dgm:t>
        <a:bodyPr/>
        <a:lstStyle/>
        <a:p>
          <a:endParaRPr lang="en-US"/>
        </a:p>
      </dgm:t>
    </dgm:pt>
    <dgm:pt modelId="{38069C8C-2A83-4EAF-8F2A-F8BE35BA6F8C}">
      <dgm:prSet/>
      <dgm:spPr/>
      <dgm:t>
        <a:bodyPr/>
        <a:lstStyle/>
        <a:p>
          <a:r>
            <a:rPr lang="fr-FR"/>
            <a:t>Conclusion</a:t>
          </a:r>
          <a:endParaRPr lang="en-US"/>
        </a:p>
      </dgm:t>
    </dgm:pt>
    <dgm:pt modelId="{D2FD0D28-AB6F-4A3E-8D49-83E24C43C34D}" type="parTrans" cxnId="{34E31E13-F5B1-4EA3-B8F6-9EB22F765ADA}">
      <dgm:prSet/>
      <dgm:spPr/>
      <dgm:t>
        <a:bodyPr/>
        <a:lstStyle/>
        <a:p>
          <a:endParaRPr lang="en-US"/>
        </a:p>
      </dgm:t>
    </dgm:pt>
    <dgm:pt modelId="{0EE444DC-0B41-450D-BFF1-B525FE4AA89C}" type="sibTrans" cxnId="{34E31E13-F5B1-4EA3-B8F6-9EB22F765ADA}">
      <dgm:prSet/>
      <dgm:spPr/>
      <dgm:t>
        <a:bodyPr/>
        <a:lstStyle/>
        <a:p>
          <a:endParaRPr lang="en-US"/>
        </a:p>
      </dgm:t>
    </dgm:pt>
    <dgm:pt modelId="{58DCC299-DB55-477A-8B0B-0A46F0BF82F4}" type="pres">
      <dgm:prSet presAssocID="{D3A2D5D3-2A16-46E5-B137-3D68180F37A6}" presName="root" presStyleCnt="0">
        <dgm:presLayoutVars>
          <dgm:dir/>
          <dgm:resizeHandles val="exact"/>
        </dgm:presLayoutVars>
      </dgm:prSet>
      <dgm:spPr/>
    </dgm:pt>
    <dgm:pt modelId="{F8AC4BB7-3740-4803-8E55-55B914A36ED0}" type="pres">
      <dgm:prSet presAssocID="{C451B8DE-31E6-4CDE-A31C-8B8EC70FF13B}" presName="compNode" presStyleCnt="0"/>
      <dgm:spPr/>
    </dgm:pt>
    <dgm:pt modelId="{3F36CFFA-D065-4D9C-87B5-DFCEBCB62744}" type="pres">
      <dgm:prSet presAssocID="{C451B8DE-31E6-4CDE-A31C-8B8EC70FF13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43ACF82-21EE-4D28-8210-17607E24FF13}" type="pres">
      <dgm:prSet presAssocID="{C451B8DE-31E6-4CDE-A31C-8B8EC70FF13B}" presName="spaceRect" presStyleCnt="0"/>
      <dgm:spPr/>
    </dgm:pt>
    <dgm:pt modelId="{39FCD652-C37F-435A-BD5D-4A8D1FDA2F47}" type="pres">
      <dgm:prSet presAssocID="{C451B8DE-31E6-4CDE-A31C-8B8EC70FF13B}" presName="textRect" presStyleLbl="revTx" presStyleIdx="0" presStyleCnt="4">
        <dgm:presLayoutVars>
          <dgm:chMax val="1"/>
          <dgm:chPref val="1"/>
        </dgm:presLayoutVars>
      </dgm:prSet>
      <dgm:spPr/>
    </dgm:pt>
    <dgm:pt modelId="{2DF53F23-0771-4B41-8870-03C03F7B33BB}" type="pres">
      <dgm:prSet presAssocID="{CABE4A6A-720D-4449-9F80-92AFE6277A7F}" presName="sibTrans" presStyleCnt="0"/>
      <dgm:spPr/>
    </dgm:pt>
    <dgm:pt modelId="{080C7A7C-06AB-4F07-A226-D5B9B738FB76}" type="pres">
      <dgm:prSet presAssocID="{AB6A90BE-131F-4016-8FCA-B8634A0F2618}" presName="compNode" presStyleCnt="0"/>
      <dgm:spPr/>
    </dgm:pt>
    <dgm:pt modelId="{96D6A9D6-E202-4723-9890-9569DCEA6B5A}" type="pres">
      <dgm:prSet presAssocID="{AB6A90BE-131F-4016-8FCA-B8634A0F261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54EDD78-6EC0-4A4D-B9B0-E38DD344314F}" type="pres">
      <dgm:prSet presAssocID="{AB6A90BE-131F-4016-8FCA-B8634A0F2618}" presName="spaceRect" presStyleCnt="0"/>
      <dgm:spPr/>
    </dgm:pt>
    <dgm:pt modelId="{3E058CEE-9D7A-42F9-A082-6FED427697D9}" type="pres">
      <dgm:prSet presAssocID="{AB6A90BE-131F-4016-8FCA-B8634A0F2618}" presName="textRect" presStyleLbl="revTx" presStyleIdx="1" presStyleCnt="4">
        <dgm:presLayoutVars>
          <dgm:chMax val="1"/>
          <dgm:chPref val="1"/>
        </dgm:presLayoutVars>
      </dgm:prSet>
      <dgm:spPr/>
    </dgm:pt>
    <dgm:pt modelId="{D7AF6CC4-0DC0-4F23-BE69-C4C970B90BB9}" type="pres">
      <dgm:prSet presAssocID="{83D17F28-9CC5-45F2-9885-A7A2B503C639}" presName="sibTrans" presStyleCnt="0"/>
      <dgm:spPr/>
    </dgm:pt>
    <dgm:pt modelId="{CB208699-4730-451A-97D6-8D460D196384}" type="pres">
      <dgm:prSet presAssocID="{BEA53D6C-95E6-493E-B57E-40CB9CF317E2}" presName="compNode" presStyleCnt="0"/>
      <dgm:spPr/>
    </dgm:pt>
    <dgm:pt modelId="{45467C9C-7A00-4F42-82FC-6214D6FCA98F}" type="pres">
      <dgm:prSet presAssocID="{BEA53D6C-95E6-493E-B57E-40CB9CF317E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4E877199-8046-4E61-8DCD-75D6602DBF95}" type="pres">
      <dgm:prSet presAssocID="{BEA53D6C-95E6-493E-B57E-40CB9CF317E2}" presName="spaceRect" presStyleCnt="0"/>
      <dgm:spPr/>
    </dgm:pt>
    <dgm:pt modelId="{B56E8106-E455-4661-80DB-B644495A7088}" type="pres">
      <dgm:prSet presAssocID="{BEA53D6C-95E6-493E-B57E-40CB9CF317E2}" presName="textRect" presStyleLbl="revTx" presStyleIdx="2" presStyleCnt="4">
        <dgm:presLayoutVars>
          <dgm:chMax val="1"/>
          <dgm:chPref val="1"/>
        </dgm:presLayoutVars>
      </dgm:prSet>
      <dgm:spPr/>
    </dgm:pt>
    <dgm:pt modelId="{3B0D335A-2F75-4826-99C9-A434E3FDDE25}" type="pres">
      <dgm:prSet presAssocID="{45FE5031-BEAC-4391-9092-CA05DB48ED16}" presName="sibTrans" presStyleCnt="0"/>
      <dgm:spPr/>
    </dgm:pt>
    <dgm:pt modelId="{63465CFA-139C-4DFE-8F4F-02FA3049416E}" type="pres">
      <dgm:prSet presAssocID="{38069C8C-2A83-4EAF-8F2A-F8BE35BA6F8C}" presName="compNode" presStyleCnt="0"/>
      <dgm:spPr/>
    </dgm:pt>
    <dgm:pt modelId="{623AA609-26D4-4EC9-85F5-692023FEEA73}" type="pres">
      <dgm:prSet presAssocID="{38069C8C-2A83-4EAF-8F2A-F8BE35BA6F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BF00ABFB-B7D2-4077-973C-EFD4CFEC7816}" type="pres">
      <dgm:prSet presAssocID="{38069C8C-2A83-4EAF-8F2A-F8BE35BA6F8C}" presName="spaceRect" presStyleCnt="0"/>
      <dgm:spPr/>
    </dgm:pt>
    <dgm:pt modelId="{7C82E0C5-ECA2-457A-A37E-943461BC93A1}" type="pres">
      <dgm:prSet presAssocID="{38069C8C-2A83-4EAF-8F2A-F8BE35BA6F8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4E31E13-F5B1-4EA3-B8F6-9EB22F765ADA}" srcId="{D3A2D5D3-2A16-46E5-B137-3D68180F37A6}" destId="{38069C8C-2A83-4EAF-8F2A-F8BE35BA6F8C}" srcOrd="3" destOrd="0" parTransId="{D2FD0D28-AB6F-4A3E-8D49-83E24C43C34D}" sibTransId="{0EE444DC-0B41-450D-BFF1-B525FE4AA89C}"/>
    <dgm:cxn modelId="{8BF14820-BAEB-435A-9D63-9BE411189727}" type="presOf" srcId="{D3A2D5D3-2A16-46E5-B137-3D68180F37A6}" destId="{58DCC299-DB55-477A-8B0B-0A46F0BF82F4}" srcOrd="0" destOrd="0" presId="urn:microsoft.com/office/officeart/2018/2/layout/IconLabelList"/>
    <dgm:cxn modelId="{466FC456-A55E-4EFF-85ED-0C2F84605E91}" srcId="{D3A2D5D3-2A16-46E5-B137-3D68180F37A6}" destId="{C451B8DE-31E6-4CDE-A31C-8B8EC70FF13B}" srcOrd="0" destOrd="0" parTransId="{7DA14E55-A347-4E79-B860-07D0DE259A62}" sibTransId="{CABE4A6A-720D-4449-9F80-92AFE6277A7F}"/>
    <dgm:cxn modelId="{E906EC73-7B31-4B16-980D-336E46348D33}" type="presOf" srcId="{AB6A90BE-131F-4016-8FCA-B8634A0F2618}" destId="{3E058CEE-9D7A-42F9-A082-6FED427697D9}" srcOrd="0" destOrd="0" presId="urn:microsoft.com/office/officeart/2018/2/layout/IconLabelList"/>
    <dgm:cxn modelId="{47A68687-D760-4C60-81D5-3A3C55407DCB}" type="presOf" srcId="{BEA53D6C-95E6-493E-B57E-40CB9CF317E2}" destId="{B56E8106-E455-4661-80DB-B644495A7088}" srcOrd="0" destOrd="0" presId="urn:microsoft.com/office/officeart/2018/2/layout/IconLabelList"/>
    <dgm:cxn modelId="{65C3428D-4A38-45E5-89FE-4C0BA1AC9F1A}" srcId="{D3A2D5D3-2A16-46E5-B137-3D68180F37A6}" destId="{BEA53D6C-95E6-493E-B57E-40CB9CF317E2}" srcOrd="2" destOrd="0" parTransId="{CA35430E-BBA4-488F-9493-0BA3683D5A27}" sibTransId="{45FE5031-BEAC-4391-9092-CA05DB48ED16}"/>
    <dgm:cxn modelId="{FAC61CC8-BFF0-4462-92E3-036FD88A1DA7}" srcId="{D3A2D5D3-2A16-46E5-B137-3D68180F37A6}" destId="{AB6A90BE-131F-4016-8FCA-B8634A0F2618}" srcOrd="1" destOrd="0" parTransId="{38D4BD26-8380-4EFA-8E69-5F387F1EB0DE}" sibTransId="{83D17F28-9CC5-45F2-9885-A7A2B503C639}"/>
    <dgm:cxn modelId="{170AD7C8-1887-413D-A14E-6CB5D9B67F59}" type="presOf" srcId="{C451B8DE-31E6-4CDE-A31C-8B8EC70FF13B}" destId="{39FCD652-C37F-435A-BD5D-4A8D1FDA2F47}" srcOrd="0" destOrd="0" presId="urn:microsoft.com/office/officeart/2018/2/layout/IconLabelList"/>
    <dgm:cxn modelId="{3E4685DC-4411-4F9B-9080-3363368B7FB3}" type="presOf" srcId="{38069C8C-2A83-4EAF-8F2A-F8BE35BA6F8C}" destId="{7C82E0C5-ECA2-457A-A37E-943461BC93A1}" srcOrd="0" destOrd="0" presId="urn:microsoft.com/office/officeart/2018/2/layout/IconLabelList"/>
    <dgm:cxn modelId="{97FA3583-8049-40F5-B8CC-AF97E38A719D}" type="presParOf" srcId="{58DCC299-DB55-477A-8B0B-0A46F0BF82F4}" destId="{F8AC4BB7-3740-4803-8E55-55B914A36ED0}" srcOrd="0" destOrd="0" presId="urn:microsoft.com/office/officeart/2018/2/layout/IconLabelList"/>
    <dgm:cxn modelId="{AC0CC617-3632-4BCE-8A11-452456D4D322}" type="presParOf" srcId="{F8AC4BB7-3740-4803-8E55-55B914A36ED0}" destId="{3F36CFFA-D065-4D9C-87B5-DFCEBCB62744}" srcOrd="0" destOrd="0" presId="urn:microsoft.com/office/officeart/2018/2/layout/IconLabelList"/>
    <dgm:cxn modelId="{E29D8847-2EC2-4C25-B678-7B774B7A09B6}" type="presParOf" srcId="{F8AC4BB7-3740-4803-8E55-55B914A36ED0}" destId="{F43ACF82-21EE-4D28-8210-17607E24FF13}" srcOrd="1" destOrd="0" presId="urn:microsoft.com/office/officeart/2018/2/layout/IconLabelList"/>
    <dgm:cxn modelId="{F22BA0D1-11B3-4E0B-9999-0A72D452C1AA}" type="presParOf" srcId="{F8AC4BB7-3740-4803-8E55-55B914A36ED0}" destId="{39FCD652-C37F-435A-BD5D-4A8D1FDA2F47}" srcOrd="2" destOrd="0" presId="urn:microsoft.com/office/officeart/2018/2/layout/IconLabelList"/>
    <dgm:cxn modelId="{B65DB08D-CEFD-471E-BEA8-5BF73B7FB734}" type="presParOf" srcId="{58DCC299-DB55-477A-8B0B-0A46F0BF82F4}" destId="{2DF53F23-0771-4B41-8870-03C03F7B33BB}" srcOrd="1" destOrd="0" presId="urn:microsoft.com/office/officeart/2018/2/layout/IconLabelList"/>
    <dgm:cxn modelId="{4B80F71D-AC5C-4361-859C-98FCCAFCF378}" type="presParOf" srcId="{58DCC299-DB55-477A-8B0B-0A46F0BF82F4}" destId="{080C7A7C-06AB-4F07-A226-D5B9B738FB76}" srcOrd="2" destOrd="0" presId="urn:microsoft.com/office/officeart/2018/2/layout/IconLabelList"/>
    <dgm:cxn modelId="{F5C335CE-EE21-4F8F-988D-DF0FE3B28E36}" type="presParOf" srcId="{080C7A7C-06AB-4F07-A226-D5B9B738FB76}" destId="{96D6A9D6-E202-4723-9890-9569DCEA6B5A}" srcOrd="0" destOrd="0" presId="urn:microsoft.com/office/officeart/2018/2/layout/IconLabelList"/>
    <dgm:cxn modelId="{48214832-DA4B-430F-BE5E-CE0A129F0211}" type="presParOf" srcId="{080C7A7C-06AB-4F07-A226-D5B9B738FB76}" destId="{D54EDD78-6EC0-4A4D-B9B0-E38DD344314F}" srcOrd="1" destOrd="0" presId="urn:microsoft.com/office/officeart/2018/2/layout/IconLabelList"/>
    <dgm:cxn modelId="{EDE97DB6-2E64-42BF-9328-48C972F6436B}" type="presParOf" srcId="{080C7A7C-06AB-4F07-A226-D5B9B738FB76}" destId="{3E058CEE-9D7A-42F9-A082-6FED427697D9}" srcOrd="2" destOrd="0" presId="urn:microsoft.com/office/officeart/2018/2/layout/IconLabelList"/>
    <dgm:cxn modelId="{D917565C-561D-485C-A675-69F74BB1EDBB}" type="presParOf" srcId="{58DCC299-DB55-477A-8B0B-0A46F0BF82F4}" destId="{D7AF6CC4-0DC0-4F23-BE69-C4C970B90BB9}" srcOrd="3" destOrd="0" presId="urn:microsoft.com/office/officeart/2018/2/layout/IconLabelList"/>
    <dgm:cxn modelId="{CD991C9B-9928-441E-9A87-BE544984243A}" type="presParOf" srcId="{58DCC299-DB55-477A-8B0B-0A46F0BF82F4}" destId="{CB208699-4730-451A-97D6-8D460D196384}" srcOrd="4" destOrd="0" presId="urn:microsoft.com/office/officeart/2018/2/layout/IconLabelList"/>
    <dgm:cxn modelId="{98B705CB-1568-4C2F-AB39-672C7B40156B}" type="presParOf" srcId="{CB208699-4730-451A-97D6-8D460D196384}" destId="{45467C9C-7A00-4F42-82FC-6214D6FCA98F}" srcOrd="0" destOrd="0" presId="urn:microsoft.com/office/officeart/2018/2/layout/IconLabelList"/>
    <dgm:cxn modelId="{AB96685B-C4BC-428B-B5BC-DFE206AA53F4}" type="presParOf" srcId="{CB208699-4730-451A-97D6-8D460D196384}" destId="{4E877199-8046-4E61-8DCD-75D6602DBF95}" srcOrd="1" destOrd="0" presId="urn:microsoft.com/office/officeart/2018/2/layout/IconLabelList"/>
    <dgm:cxn modelId="{647DA062-06C6-4C41-A82F-9B59456BF7A2}" type="presParOf" srcId="{CB208699-4730-451A-97D6-8D460D196384}" destId="{B56E8106-E455-4661-80DB-B644495A7088}" srcOrd="2" destOrd="0" presId="urn:microsoft.com/office/officeart/2018/2/layout/IconLabelList"/>
    <dgm:cxn modelId="{22FB592B-77B4-421D-845B-25F0D3B8B2CD}" type="presParOf" srcId="{58DCC299-DB55-477A-8B0B-0A46F0BF82F4}" destId="{3B0D335A-2F75-4826-99C9-A434E3FDDE25}" srcOrd="5" destOrd="0" presId="urn:microsoft.com/office/officeart/2018/2/layout/IconLabelList"/>
    <dgm:cxn modelId="{5F3A4DD0-4045-4FFB-8623-D0DD181B08CE}" type="presParOf" srcId="{58DCC299-DB55-477A-8B0B-0A46F0BF82F4}" destId="{63465CFA-139C-4DFE-8F4F-02FA3049416E}" srcOrd="6" destOrd="0" presId="urn:microsoft.com/office/officeart/2018/2/layout/IconLabelList"/>
    <dgm:cxn modelId="{E4E9D85B-AC2D-4423-89F2-6C51ECB219EC}" type="presParOf" srcId="{63465CFA-139C-4DFE-8F4F-02FA3049416E}" destId="{623AA609-26D4-4EC9-85F5-692023FEEA73}" srcOrd="0" destOrd="0" presId="urn:microsoft.com/office/officeart/2018/2/layout/IconLabelList"/>
    <dgm:cxn modelId="{6BBA4119-08A0-4ABE-81AB-83A21FE2AD17}" type="presParOf" srcId="{63465CFA-139C-4DFE-8F4F-02FA3049416E}" destId="{BF00ABFB-B7D2-4077-973C-EFD4CFEC7816}" srcOrd="1" destOrd="0" presId="urn:microsoft.com/office/officeart/2018/2/layout/IconLabelList"/>
    <dgm:cxn modelId="{114C6760-5D45-4D86-8332-4912F677C87D}" type="presParOf" srcId="{63465CFA-139C-4DFE-8F4F-02FA3049416E}" destId="{7C82E0C5-ECA2-457A-A37E-943461BC93A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A98B8F-52DD-487B-AD67-3B6718BE4EB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3CEDB4-BE80-4411-8F31-75B3813BBF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Contexte légal obligatoire, enjeux sociaux et impact sur l'attractivité de l'entreprise.</a:t>
          </a:r>
        </a:p>
      </dgm:t>
    </dgm:pt>
    <dgm:pt modelId="{9736C389-EC55-4664-A48D-3020D2B5D38A}" type="parTrans" cxnId="{72A24418-0BC4-4A1F-AA82-DB9CCED5F2D2}">
      <dgm:prSet/>
      <dgm:spPr/>
      <dgm:t>
        <a:bodyPr/>
        <a:lstStyle/>
        <a:p>
          <a:endParaRPr lang="en-US"/>
        </a:p>
      </dgm:t>
    </dgm:pt>
    <dgm:pt modelId="{D2CD0293-944C-403B-B96A-9771189ED873}" type="sibTrans" cxnId="{72A24418-0BC4-4A1F-AA82-DB9CCED5F2D2}">
      <dgm:prSet/>
      <dgm:spPr/>
      <dgm:t>
        <a:bodyPr/>
        <a:lstStyle/>
        <a:p>
          <a:endParaRPr lang="en-US"/>
        </a:p>
      </dgm:t>
    </dgm:pt>
    <dgm:pt modelId="{69BDECAA-0E82-4C93-AAA2-BFC1986C78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Objectif : Analyser la situation actuelle et définir des axes d'amélioration.</a:t>
          </a:r>
        </a:p>
      </dgm:t>
    </dgm:pt>
    <dgm:pt modelId="{474F58C3-3450-4F9D-9FFC-64CB7B69AA6F}" type="parTrans" cxnId="{61E71BD9-6BF0-4A72-9D72-8BFBE7AF4A23}">
      <dgm:prSet/>
      <dgm:spPr/>
      <dgm:t>
        <a:bodyPr/>
        <a:lstStyle/>
        <a:p>
          <a:endParaRPr lang="en-US"/>
        </a:p>
      </dgm:t>
    </dgm:pt>
    <dgm:pt modelId="{8A3459BC-4671-4453-8476-29B6332D04D6}" type="sibTrans" cxnId="{61E71BD9-6BF0-4A72-9D72-8BFBE7AF4A23}">
      <dgm:prSet/>
      <dgm:spPr/>
      <dgm:t>
        <a:bodyPr/>
        <a:lstStyle/>
        <a:p>
          <a:endParaRPr lang="en-US"/>
        </a:p>
      </dgm:t>
    </dgm:pt>
    <dgm:pt modelId="{4960E03B-77CD-46AF-9FEC-3857F75FAD3D}" type="pres">
      <dgm:prSet presAssocID="{D2A98B8F-52DD-487B-AD67-3B6718BE4EB6}" presName="root" presStyleCnt="0">
        <dgm:presLayoutVars>
          <dgm:dir/>
          <dgm:resizeHandles val="exact"/>
        </dgm:presLayoutVars>
      </dgm:prSet>
      <dgm:spPr/>
    </dgm:pt>
    <dgm:pt modelId="{99EA2523-0A49-4A30-B0A5-3D801395C6C8}" type="pres">
      <dgm:prSet presAssocID="{DE3CEDB4-BE80-4411-8F31-75B3813BBF68}" presName="compNode" presStyleCnt="0"/>
      <dgm:spPr/>
    </dgm:pt>
    <dgm:pt modelId="{3DF5BA78-9251-4553-AD06-43B920D6BEF3}" type="pres">
      <dgm:prSet presAssocID="{DE3CEDB4-BE80-4411-8F31-75B3813BBF68}" presName="bgRect" presStyleLbl="bgShp" presStyleIdx="0" presStyleCnt="2"/>
      <dgm:spPr/>
    </dgm:pt>
    <dgm:pt modelId="{682CB33C-F912-4ABA-A303-13F614A67B13}" type="pres">
      <dgm:prSet presAssocID="{DE3CEDB4-BE80-4411-8F31-75B3813BBF6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teau d'officiel"/>
        </a:ext>
      </dgm:extLst>
    </dgm:pt>
    <dgm:pt modelId="{9F3ACCE4-3D16-4383-B2E6-F840DB816845}" type="pres">
      <dgm:prSet presAssocID="{DE3CEDB4-BE80-4411-8F31-75B3813BBF68}" presName="spaceRect" presStyleCnt="0"/>
      <dgm:spPr/>
    </dgm:pt>
    <dgm:pt modelId="{8F584BFD-ECE2-4727-AC4C-5B7FB3AC42C5}" type="pres">
      <dgm:prSet presAssocID="{DE3CEDB4-BE80-4411-8F31-75B3813BBF68}" presName="parTx" presStyleLbl="revTx" presStyleIdx="0" presStyleCnt="2">
        <dgm:presLayoutVars>
          <dgm:chMax val="0"/>
          <dgm:chPref val="0"/>
        </dgm:presLayoutVars>
      </dgm:prSet>
      <dgm:spPr/>
    </dgm:pt>
    <dgm:pt modelId="{C841CAC2-C671-4AD6-B610-22F02061A244}" type="pres">
      <dgm:prSet presAssocID="{D2CD0293-944C-403B-B96A-9771189ED873}" presName="sibTrans" presStyleCnt="0"/>
      <dgm:spPr/>
    </dgm:pt>
    <dgm:pt modelId="{0643C8F8-FC60-43EA-983B-E6F77A521CB9}" type="pres">
      <dgm:prSet presAssocID="{69BDECAA-0E82-4C93-AAA2-BFC1986C78CA}" presName="compNode" presStyleCnt="0"/>
      <dgm:spPr/>
    </dgm:pt>
    <dgm:pt modelId="{A7972913-095C-4896-838A-6D7DE5631A8B}" type="pres">
      <dgm:prSet presAssocID="{69BDECAA-0E82-4C93-AAA2-BFC1986C78CA}" presName="bgRect" presStyleLbl="bgShp" presStyleIdx="1" presStyleCnt="2"/>
      <dgm:spPr/>
    </dgm:pt>
    <dgm:pt modelId="{7F2FC7DC-4977-4AA7-9D9B-D49A1736133E}" type="pres">
      <dgm:prSet presAssocID="{69BDECAA-0E82-4C93-AAA2-BFC1986C78C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74767D76-F4F3-42D3-BB17-E980161434CB}" type="pres">
      <dgm:prSet presAssocID="{69BDECAA-0E82-4C93-AAA2-BFC1986C78CA}" presName="spaceRect" presStyleCnt="0"/>
      <dgm:spPr/>
    </dgm:pt>
    <dgm:pt modelId="{6F69942E-F31C-405E-9D55-32A57A60AE73}" type="pres">
      <dgm:prSet presAssocID="{69BDECAA-0E82-4C93-AAA2-BFC1986C78C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360450A-5A93-4749-97B2-6466F48C2901}" type="presOf" srcId="{DE3CEDB4-BE80-4411-8F31-75B3813BBF68}" destId="{8F584BFD-ECE2-4727-AC4C-5B7FB3AC42C5}" srcOrd="0" destOrd="0" presId="urn:microsoft.com/office/officeart/2018/2/layout/IconVerticalSolidList"/>
    <dgm:cxn modelId="{72A24418-0BC4-4A1F-AA82-DB9CCED5F2D2}" srcId="{D2A98B8F-52DD-487B-AD67-3B6718BE4EB6}" destId="{DE3CEDB4-BE80-4411-8F31-75B3813BBF68}" srcOrd="0" destOrd="0" parTransId="{9736C389-EC55-4664-A48D-3020D2B5D38A}" sibTransId="{D2CD0293-944C-403B-B96A-9771189ED873}"/>
    <dgm:cxn modelId="{F718B21D-CBB0-49B5-B29E-CABCBBD8C2B7}" type="presOf" srcId="{D2A98B8F-52DD-487B-AD67-3B6718BE4EB6}" destId="{4960E03B-77CD-46AF-9FEC-3857F75FAD3D}" srcOrd="0" destOrd="0" presId="urn:microsoft.com/office/officeart/2018/2/layout/IconVerticalSolidList"/>
    <dgm:cxn modelId="{FA4CF42B-054A-4724-922E-B026F700E564}" type="presOf" srcId="{69BDECAA-0E82-4C93-AAA2-BFC1986C78CA}" destId="{6F69942E-F31C-405E-9D55-32A57A60AE73}" srcOrd="0" destOrd="0" presId="urn:microsoft.com/office/officeart/2018/2/layout/IconVerticalSolidList"/>
    <dgm:cxn modelId="{61E71BD9-6BF0-4A72-9D72-8BFBE7AF4A23}" srcId="{D2A98B8F-52DD-487B-AD67-3B6718BE4EB6}" destId="{69BDECAA-0E82-4C93-AAA2-BFC1986C78CA}" srcOrd="1" destOrd="0" parTransId="{474F58C3-3450-4F9D-9FFC-64CB7B69AA6F}" sibTransId="{8A3459BC-4671-4453-8476-29B6332D04D6}"/>
    <dgm:cxn modelId="{194ABE24-376B-4EFC-B14B-25E4B5785E62}" type="presParOf" srcId="{4960E03B-77CD-46AF-9FEC-3857F75FAD3D}" destId="{99EA2523-0A49-4A30-B0A5-3D801395C6C8}" srcOrd="0" destOrd="0" presId="urn:microsoft.com/office/officeart/2018/2/layout/IconVerticalSolidList"/>
    <dgm:cxn modelId="{3F842BBF-2FEF-4305-883A-FA0D01C8056A}" type="presParOf" srcId="{99EA2523-0A49-4A30-B0A5-3D801395C6C8}" destId="{3DF5BA78-9251-4553-AD06-43B920D6BEF3}" srcOrd="0" destOrd="0" presId="urn:microsoft.com/office/officeart/2018/2/layout/IconVerticalSolidList"/>
    <dgm:cxn modelId="{6AFE3387-A3A9-4E7B-B241-9F0E535DFF87}" type="presParOf" srcId="{99EA2523-0A49-4A30-B0A5-3D801395C6C8}" destId="{682CB33C-F912-4ABA-A303-13F614A67B13}" srcOrd="1" destOrd="0" presId="urn:microsoft.com/office/officeart/2018/2/layout/IconVerticalSolidList"/>
    <dgm:cxn modelId="{9CDD02F7-533F-4EE9-B61C-B2EDCB492B8E}" type="presParOf" srcId="{99EA2523-0A49-4A30-B0A5-3D801395C6C8}" destId="{9F3ACCE4-3D16-4383-B2E6-F840DB816845}" srcOrd="2" destOrd="0" presId="urn:microsoft.com/office/officeart/2018/2/layout/IconVerticalSolidList"/>
    <dgm:cxn modelId="{D9D616E7-D92F-43E6-A707-7ACA65CB068E}" type="presParOf" srcId="{99EA2523-0A49-4A30-B0A5-3D801395C6C8}" destId="{8F584BFD-ECE2-4727-AC4C-5B7FB3AC42C5}" srcOrd="3" destOrd="0" presId="urn:microsoft.com/office/officeart/2018/2/layout/IconVerticalSolidList"/>
    <dgm:cxn modelId="{A50CBAE9-6DCF-49F2-ACB0-ADF3784B4B65}" type="presParOf" srcId="{4960E03B-77CD-46AF-9FEC-3857F75FAD3D}" destId="{C841CAC2-C671-4AD6-B610-22F02061A244}" srcOrd="1" destOrd="0" presId="urn:microsoft.com/office/officeart/2018/2/layout/IconVerticalSolidList"/>
    <dgm:cxn modelId="{38F21228-C905-4CDB-AFFE-52F007D144CA}" type="presParOf" srcId="{4960E03B-77CD-46AF-9FEC-3857F75FAD3D}" destId="{0643C8F8-FC60-43EA-983B-E6F77A521CB9}" srcOrd="2" destOrd="0" presId="urn:microsoft.com/office/officeart/2018/2/layout/IconVerticalSolidList"/>
    <dgm:cxn modelId="{B775CE46-D9EE-4889-98B7-04F1A8B88995}" type="presParOf" srcId="{0643C8F8-FC60-43EA-983B-E6F77A521CB9}" destId="{A7972913-095C-4896-838A-6D7DE5631A8B}" srcOrd="0" destOrd="0" presId="urn:microsoft.com/office/officeart/2018/2/layout/IconVerticalSolidList"/>
    <dgm:cxn modelId="{6E5A0752-CF7F-4886-8D56-424894965F9B}" type="presParOf" srcId="{0643C8F8-FC60-43EA-983B-E6F77A521CB9}" destId="{7F2FC7DC-4977-4AA7-9D9B-D49A1736133E}" srcOrd="1" destOrd="0" presId="urn:microsoft.com/office/officeart/2018/2/layout/IconVerticalSolidList"/>
    <dgm:cxn modelId="{C9ED2A36-A30C-49AD-95D1-6D7218B3B7F9}" type="presParOf" srcId="{0643C8F8-FC60-43EA-983B-E6F77A521CB9}" destId="{74767D76-F4F3-42D3-BB17-E980161434CB}" srcOrd="2" destOrd="0" presId="urn:microsoft.com/office/officeart/2018/2/layout/IconVerticalSolidList"/>
    <dgm:cxn modelId="{C5612A41-7AD5-480B-870C-E90FD44EB50D}" type="presParOf" srcId="{0643C8F8-FC60-43EA-983B-E6F77A521CB9}" destId="{6F69942E-F31C-405E-9D55-32A57A60AE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F4EC04-871C-4DA4-B80A-DBA67411753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CCA43D7-731F-4D02-AD18-3B2BC06A0F5D}">
      <dgm:prSet/>
      <dgm:spPr/>
      <dgm:t>
        <a:bodyPr/>
        <a:lstStyle/>
        <a:p>
          <a:r>
            <a:rPr lang="en-US"/>
            <a:t>Révision salariale ciblée, égalité promotions, prévention accidents.</a:t>
          </a:r>
        </a:p>
      </dgm:t>
    </dgm:pt>
    <dgm:pt modelId="{7497BEF9-304D-4090-AF3C-847C763CCA04}" type="parTrans" cxnId="{45502813-8E68-40B6-8DEF-765F71C1368D}">
      <dgm:prSet/>
      <dgm:spPr/>
      <dgm:t>
        <a:bodyPr/>
        <a:lstStyle/>
        <a:p>
          <a:endParaRPr lang="en-US"/>
        </a:p>
      </dgm:t>
    </dgm:pt>
    <dgm:pt modelId="{ED8BB091-6798-409A-94B2-43F4F5915E8E}" type="sibTrans" cxnId="{45502813-8E68-40B6-8DEF-765F71C1368D}">
      <dgm:prSet/>
      <dgm:spPr/>
      <dgm:t>
        <a:bodyPr/>
        <a:lstStyle/>
        <a:p>
          <a:endParaRPr lang="en-US"/>
        </a:p>
      </dgm:t>
    </dgm:pt>
    <dgm:pt modelId="{A6045B7B-F5A0-4FCE-A290-C9A8791C0DE7}">
      <dgm:prSet/>
      <dgm:spPr/>
      <dgm:t>
        <a:bodyPr/>
        <a:lstStyle/>
        <a:p>
          <a:r>
            <a:rPr lang="en-US"/>
            <a:t>Objectif : améliorer score égalité.</a:t>
          </a:r>
        </a:p>
      </dgm:t>
    </dgm:pt>
    <dgm:pt modelId="{0237D1B0-D89E-487E-9216-2974E350A42B}" type="parTrans" cxnId="{5086BAB1-1146-4DAE-A707-4E5B11FBF4A2}">
      <dgm:prSet/>
      <dgm:spPr/>
      <dgm:t>
        <a:bodyPr/>
        <a:lstStyle/>
        <a:p>
          <a:endParaRPr lang="en-US"/>
        </a:p>
      </dgm:t>
    </dgm:pt>
    <dgm:pt modelId="{0AB57F9B-7623-4887-989E-2DBA0F6F0C39}" type="sibTrans" cxnId="{5086BAB1-1146-4DAE-A707-4E5B11FBF4A2}">
      <dgm:prSet/>
      <dgm:spPr/>
      <dgm:t>
        <a:bodyPr/>
        <a:lstStyle/>
        <a:p>
          <a:endParaRPr lang="en-US"/>
        </a:p>
      </dgm:t>
    </dgm:pt>
    <dgm:pt modelId="{23248D84-3551-48A7-B22D-F5494CD67A5D}" type="pres">
      <dgm:prSet presAssocID="{42F4EC04-871C-4DA4-B80A-DBA674117531}" presName="root" presStyleCnt="0">
        <dgm:presLayoutVars>
          <dgm:dir/>
          <dgm:resizeHandles val="exact"/>
        </dgm:presLayoutVars>
      </dgm:prSet>
      <dgm:spPr/>
    </dgm:pt>
    <dgm:pt modelId="{E4DA4DB0-0931-4925-9FCE-E79AE5940A8C}" type="pres">
      <dgm:prSet presAssocID="{ECCA43D7-731F-4D02-AD18-3B2BC06A0F5D}" presName="compNode" presStyleCnt="0"/>
      <dgm:spPr/>
    </dgm:pt>
    <dgm:pt modelId="{3A24424D-DC85-4464-BE90-EE0A0AB90B59}" type="pres">
      <dgm:prSet presAssocID="{ECCA43D7-731F-4D02-AD18-3B2BC06A0F5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E692B876-438E-4741-8A24-2568258A471A}" type="pres">
      <dgm:prSet presAssocID="{ECCA43D7-731F-4D02-AD18-3B2BC06A0F5D}" presName="spaceRect" presStyleCnt="0"/>
      <dgm:spPr/>
    </dgm:pt>
    <dgm:pt modelId="{C51AB18D-3D5A-48F8-81E8-B18F1EC10D6C}" type="pres">
      <dgm:prSet presAssocID="{ECCA43D7-731F-4D02-AD18-3B2BC06A0F5D}" presName="textRect" presStyleLbl="revTx" presStyleIdx="0" presStyleCnt="2">
        <dgm:presLayoutVars>
          <dgm:chMax val="1"/>
          <dgm:chPref val="1"/>
        </dgm:presLayoutVars>
      </dgm:prSet>
      <dgm:spPr/>
    </dgm:pt>
    <dgm:pt modelId="{A5618299-9CC6-47BC-87AF-5CD1259EBF80}" type="pres">
      <dgm:prSet presAssocID="{ED8BB091-6798-409A-94B2-43F4F5915E8E}" presName="sibTrans" presStyleCnt="0"/>
      <dgm:spPr/>
    </dgm:pt>
    <dgm:pt modelId="{EC118339-587E-4BDE-95CB-7E2A3C6326BA}" type="pres">
      <dgm:prSet presAssocID="{A6045B7B-F5A0-4FCE-A290-C9A8791C0DE7}" presName="compNode" presStyleCnt="0"/>
      <dgm:spPr/>
    </dgm:pt>
    <dgm:pt modelId="{9D38F68C-4BEE-4558-B0BC-CD3BB6371149}" type="pres">
      <dgm:prSet presAssocID="{A6045B7B-F5A0-4FCE-A290-C9A8791C0DE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DD155F6F-F804-4E66-8A71-59864190271D}" type="pres">
      <dgm:prSet presAssocID="{A6045B7B-F5A0-4FCE-A290-C9A8791C0DE7}" presName="spaceRect" presStyleCnt="0"/>
      <dgm:spPr/>
    </dgm:pt>
    <dgm:pt modelId="{D6A0F2E0-AD88-4316-AE6C-4A0EEBF851B0}" type="pres">
      <dgm:prSet presAssocID="{A6045B7B-F5A0-4FCE-A290-C9A8791C0DE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5502813-8E68-40B6-8DEF-765F71C1368D}" srcId="{42F4EC04-871C-4DA4-B80A-DBA674117531}" destId="{ECCA43D7-731F-4D02-AD18-3B2BC06A0F5D}" srcOrd="0" destOrd="0" parTransId="{7497BEF9-304D-4090-AF3C-847C763CCA04}" sibTransId="{ED8BB091-6798-409A-94B2-43F4F5915E8E}"/>
    <dgm:cxn modelId="{F57EE53F-68FE-48B8-A3ED-D2F29FF66561}" type="presOf" srcId="{42F4EC04-871C-4DA4-B80A-DBA674117531}" destId="{23248D84-3551-48A7-B22D-F5494CD67A5D}" srcOrd="0" destOrd="0" presId="urn:microsoft.com/office/officeart/2018/2/layout/IconLabelList"/>
    <dgm:cxn modelId="{5086BAB1-1146-4DAE-A707-4E5B11FBF4A2}" srcId="{42F4EC04-871C-4DA4-B80A-DBA674117531}" destId="{A6045B7B-F5A0-4FCE-A290-C9A8791C0DE7}" srcOrd="1" destOrd="0" parTransId="{0237D1B0-D89E-487E-9216-2974E350A42B}" sibTransId="{0AB57F9B-7623-4887-989E-2DBA0F6F0C39}"/>
    <dgm:cxn modelId="{167C3EDA-DFB5-4646-A3AA-BFAFAA01D499}" type="presOf" srcId="{ECCA43D7-731F-4D02-AD18-3B2BC06A0F5D}" destId="{C51AB18D-3D5A-48F8-81E8-B18F1EC10D6C}" srcOrd="0" destOrd="0" presId="urn:microsoft.com/office/officeart/2018/2/layout/IconLabelList"/>
    <dgm:cxn modelId="{B3504BE0-8D06-49E4-A1A6-341054448D69}" type="presOf" srcId="{A6045B7B-F5A0-4FCE-A290-C9A8791C0DE7}" destId="{D6A0F2E0-AD88-4316-AE6C-4A0EEBF851B0}" srcOrd="0" destOrd="0" presId="urn:microsoft.com/office/officeart/2018/2/layout/IconLabelList"/>
    <dgm:cxn modelId="{36794C92-6D1C-442E-B7F6-72841B53ADC5}" type="presParOf" srcId="{23248D84-3551-48A7-B22D-F5494CD67A5D}" destId="{E4DA4DB0-0931-4925-9FCE-E79AE5940A8C}" srcOrd="0" destOrd="0" presId="urn:microsoft.com/office/officeart/2018/2/layout/IconLabelList"/>
    <dgm:cxn modelId="{703D77B7-E5A1-4AF9-BC07-FD2A8992430A}" type="presParOf" srcId="{E4DA4DB0-0931-4925-9FCE-E79AE5940A8C}" destId="{3A24424D-DC85-4464-BE90-EE0A0AB90B59}" srcOrd="0" destOrd="0" presId="urn:microsoft.com/office/officeart/2018/2/layout/IconLabelList"/>
    <dgm:cxn modelId="{951B1C63-9D2D-40CE-8FC3-25D7C7B531A8}" type="presParOf" srcId="{E4DA4DB0-0931-4925-9FCE-E79AE5940A8C}" destId="{E692B876-438E-4741-8A24-2568258A471A}" srcOrd="1" destOrd="0" presId="urn:microsoft.com/office/officeart/2018/2/layout/IconLabelList"/>
    <dgm:cxn modelId="{B7460C0E-D9A2-4C56-A01F-EA2694305494}" type="presParOf" srcId="{E4DA4DB0-0931-4925-9FCE-E79AE5940A8C}" destId="{C51AB18D-3D5A-48F8-81E8-B18F1EC10D6C}" srcOrd="2" destOrd="0" presId="urn:microsoft.com/office/officeart/2018/2/layout/IconLabelList"/>
    <dgm:cxn modelId="{B775CAAB-A4B2-404B-8E2A-9B2CDEEA3083}" type="presParOf" srcId="{23248D84-3551-48A7-B22D-F5494CD67A5D}" destId="{A5618299-9CC6-47BC-87AF-5CD1259EBF80}" srcOrd="1" destOrd="0" presId="urn:microsoft.com/office/officeart/2018/2/layout/IconLabelList"/>
    <dgm:cxn modelId="{C3C9A862-B454-45C7-8DB1-6319A930AB27}" type="presParOf" srcId="{23248D84-3551-48A7-B22D-F5494CD67A5D}" destId="{EC118339-587E-4BDE-95CB-7E2A3C6326BA}" srcOrd="2" destOrd="0" presId="urn:microsoft.com/office/officeart/2018/2/layout/IconLabelList"/>
    <dgm:cxn modelId="{3D6CD15B-A538-4410-81D3-69C45AA7E29A}" type="presParOf" srcId="{EC118339-587E-4BDE-95CB-7E2A3C6326BA}" destId="{9D38F68C-4BEE-4558-B0BC-CD3BB6371149}" srcOrd="0" destOrd="0" presId="urn:microsoft.com/office/officeart/2018/2/layout/IconLabelList"/>
    <dgm:cxn modelId="{6ABEA3F4-4461-4238-8107-E2E53AA9FAE6}" type="presParOf" srcId="{EC118339-587E-4BDE-95CB-7E2A3C6326BA}" destId="{DD155F6F-F804-4E66-8A71-59864190271D}" srcOrd="1" destOrd="0" presId="urn:microsoft.com/office/officeart/2018/2/layout/IconLabelList"/>
    <dgm:cxn modelId="{883B4036-4DEA-4AFC-88E0-E3886F5F3C98}" type="presParOf" srcId="{EC118339-587E-4BDE-95CB-7E2A3C6326BA}" destId="{D6A0F2E0-AD88-4316-AE6C-4A0EEBF851B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36CFFA-D065-4D9C-87B5-DFCEBCB62744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CD652-C37F-435A-BD5D-4A8D1FDA2F47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Méthodologie</a:t>
          </a:r>
          <a:endParaRPr lang="en-US" sz="2400" kern="1200"/>
        </a:p>
      </dsp:txBody>
      <dsp:txXfrm>
        <a:off x="25435" y="2276522"/>
        <a:ext cx="1800000" cy="720000"/>
      </dsp:txXfrm>
    </dsp:sp>
    <dsp:sp modelId="{96D6A9D6-E202-4723-9890-9569DCEA6B5A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58CEE-9D7A-42F9-A082-6FED427697D9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Analyse des indicateurs</a:t>
          </a:r>
          <a:endParaRPr lang="en-US" sz="2400" kern="1200"/>
        </a:p>
      </dsp:txBody>
      <dsp:txXfrm>
        <a:off x="2140435" y="2276522"/>
        <a:ext cx="1800000" cy="720000"/>
      </dsp:txXfrm>
    </dsp:sp>
    <dsp:sp modelId="{45467C9C-7A00-4F42-82FC-6214D6FCA98F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E8106-E455-4661-80DB-B644495A7088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Score </a:t>
          </a:r>
          <a:endParaRPr lang="en-US" sz="2400" kern="1200"/>
        </a:p>
      </dsp:txBody>
      <dsp:txXfrm>
        <a:off x="4255435" y="2276522"/>
        <a:ext cx="1800000" cy="720000"/>
      </dsp:txXfrm>
    </dsp:sp>
    <dsp:sp modelId="{623AA609-26D4-4EC9-85F5-692023FEEA73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2E0C5-ECA2-457A-A37E-943461BC93A1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Conclusion</a:t>
          </a:r>
          <a:endParaRPr lang="en-US" sz="2400" kern="1200"/>
        </a:p>
      </dsp:txBody>
      <dsp:txXfrm>
        <a:off x="6370435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5BA78-9251-4553-AD06-43B920D6BEF3}">
      <dsp:nvSpPr>
        <dsp:cNvPr id="0" name=""/>
        <dsp:cNvSpPr/>
      </dsp:nvSpPr>
      <dsp:spPr>
        <a:xfrm>
          <a:off x="0" y="735468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2CB33C-F912-4ABA-A303-13F614A67B13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584BFD-ECE2-4727-AC4C-5B7FB3AC42C5}">
      <dsp:nvSpPr>
        <dsp:cNvPr id="0" name=""/>
        <dsp:cNvSpPr/>
      </dsp:nvSpPr>
      <dsp:spPr>
        <a:xfrm>
          <a:off x="1568246" y="735468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Contexte légal obligatoire, enjeux sociaux et impact sur l'attractivité de l'entreprise.</a:t>
          </a:r>
        </a:p>
      </dsp:txBody>
      <dsp:txXfrm>
        <a:off x="1568246" y="735468"/>
        <a:ext cx="6661353" cy="1357788"/>
      </dsp:txXfrm>
    </dsp:sp>
    <dsp:sp modelId="{A7972913-095C-4896-838A-6D7DE5631A8B}">
      <dsp:nvSpPr>
        <dsp:cNvPr id="0" name=""/>
        <dsp:cNvSpPr/>
      </dsp:nvSpPr>
      <dsp:spPr>
        <a:xfrm>
          <a:off x="0" y="2432705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FC7DC-4977-4AA7-9D9B-D49A1736133E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9942E-F31C-405E-9D55-32A57A60AE73}">
      <dsp:nvSpPr>
        <dsp:cNvPr id="0" name=""/>
        <dsp:cNvSpPr/>
      </dsp:nvSpPr>
      <dsp:spPr>
        <a:xfrm>
          <a:off x="1568246" y="2432705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Objectif : Analyser la situation actuelle et définir des axes d'amélioration.</a:t>
          </a:r>
        </a:p>
      </dsp:txBody>
      <dsp:txXfrm>
        <a:off x="1568246" y="2432705"/>
        <a:ext cx="6661353" cy="1357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4424D-DC85-4464-BE90-EE0A0AB90B59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AB18D-3D5A-48F8-81E8-B18F1EC10D6C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Révision salariale ciblée, égalité promotions, prévention accidents.</a:t>
          </a:r>
        </a:p>
      </dsp:txBody>
      <dsp:txXfrm>
        <a:off x="85060" y="2776702"/>
        <a:ext cx="3690000" cy="720000"/>
      </dsp:txXfrm>
    </dsp:sp>
    <dsp:sp modelId="{9D38F68C-4BEE-4558-B0BC-CD3BB6371149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0F2E0-AD88-4316-AE6C-4A0EEBF851B0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Objectif : améliorer score égalité.</a:t>
          </a:r>
        </a:p>
      </dsp:txBody>
      <dsp:txXfrm>
        <a:off x="4420810" y="2776702"/>
        <a:ext cx="369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89CC330-9D79-6643-CA02-00CD5053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3500" b="0" i="0" u="none" strike="noStrike">
                <a:solidFill>
                  <a:srgbClr val="FFFFFF"/>
                </a:solidFill>
                <a:effectLst/>
              </a:rPr>
              <a:t>Diagnostic Égalité Femmes-Hommes</a:t>
            </a:r>
            <a:endParaRPr lang="fr-FR" sz="35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C91AE8-816C-7104-365D-4A4D21DFF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endParaRPr lang="fr-FR" sz="170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A8BC51C-C2DF-45D0-8EDE-76A8BE93F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860" y="-1"/>
            <a:ext cx="495827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7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B4BF06-FFA7-6D50-FEB8-7C7833281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FR" sz="3500">
                <a:solidFill>
                  <a:srgbClr val="FFFFFF"/>
                </a:solidFill>
              </a:rPr>
              <a:t>Sommaire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55F5E33A-36AF-AAA5-5D98-2701C58FD6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398035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6763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9FDBD8-1A70-4060-439F-AD13D2C6E7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anchor="b">
            <a:normAutofit/>
          </a:bodyPr>
          <a:lstStyle/>
          <a:p>
            <a:r>
              <a:rPr lang="fr-FR" sz="2800">
                <a:solidFill>
                  <a:srgbClr val="FFFFFF"/>
                </a:solidFill>
              </a:rPr>
              <a:t>Méthodologie utilisée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13" y="2459116"/>
            <a:ext cx="2776934" cy="3524823"/>
          </a:xfrm>
        </p:spPr>
        <p:txBody>
          <a:bodyPr>
            <a:normAutofit/>
          </a:bodyPr>
          <a:lstStyle/>
          <a:p>
            <a:r>
              <a:rPr lang="fr-FR" sz="1700">
                <a:solidFill>
                  <a:srgbClr val="FFFFFF"/>
                </a:solidFill>
              </a:rPr>
              <a:t>Utilisation de KNIME pour automatiser le processus.</a:t>
            </a:r>
          </a:p>
          <a:p>
            <a:r>
              <a:rPr lang="fr-FR" sz="1700">
                <a:solidFill>
                  <a:srgbClr val="FFFFFF"/>
                </a:solidFill>
              </a:rPr>
              <a:t>Étapes : nettoyage des données, anonymisation RGPD, calcul des indicateurs, génération du score égalité H/F.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BED689F-FCB6-9980-18F0-2562E39E0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893" y="2166083"/>
            <a:ext cx="4551053" cy="25258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Effectifs globaux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31" y="806824"/>
            <a:ext cx="2189804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Effectifs équilibrés, légère majorité masculine (131 hommes vs 125 femmes).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FFE116C-1AD4-A404-55FE-975FC6215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1335791"/>
            <a:ext cx="5419311" cy="41864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Effectifs par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31" y="806824"/>
            <a:ext cx="2189804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Déséquilibres significatifs en Informatique (hommes) et Compta-Finances (femmes).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A2E9C04-22D8-E342-401A-ECF870090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806824"/>
            <a:ext cx="5419311" cy="50321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4885140"/>
          </a:xfrm>
        </p:spPr>
        <p:txBody>
          <a:bodyPr anchor="b">
            <a:normAutofit/>
          </a:bodyPr>
          <a:lstStyle/>
          <a:p>
            <a:r>
              <a:rPr lang="fr-FR" sz="3500" dirty="0">
                <a:solidFill>
                  <a:srgbClr val="FFFFFF"/>
                </a:solidFill>
              </a:rPr>
              <a:t>Types de contrats globaux</a:t>
            </a:r>
            <a:br>
              <a:rPr lang="fr-FR" sz="3500" dirty="0">
                <a:solidFill>
                  <a:srgbClr val="FFFFFF"/>
                </a:solidFill>
              </a:rPr>
            </a:br>
            <a:br>
              <a:rPr lang="fr-FR" sz="3500" dirty="0">
                <a:solidFill>
                  <a:srgbClr val="FFFFFF"/>
                </a:solidFill>
              </a:rPr>
            </a:br>
            <a:r>
              <a:rPr lang="fr-FR" sz="2000" dirty="0">
                <a:solidFill>
                  <a:schemeClr val="bg1"/>
                </a:solidFill>
              </a:rPr>
              <a:t>Répartition CDI/CDD par genre.</a:t>
            </a:r>
            <a:br>
              <a:rPr lang="fr-FR" sz="2000" dirty="0">
                <a:solidFill>
                  <a:schemeClr val="bg1"/>
                </a:solidFill>
              </a:rPr>
            </a:br>
            <a:r>
              <a:rPr lang="fr-FR" sz="2000" dirty="0">
                <a:solidFill>
                  <a:schemeClr val="bg1"/>
                </a:solidFill>
              </a:rPr>
              <a:t>CDD plus élevé chez les femmes (8,8%) que chez les hommes (3,8%).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938B213-7C8E-B887-B93A-26FA5319BA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033" b="17807"/>
          <a:stretch/>
        </p:blipFill>
        <p:spPr>
          <a:xfrm>
            <a:off x="3182462" y="586856"/>
            <a:ext cx="5611496" cy="56542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4825596"/>
          </a:xfrm>
        </p:spPr>
        <p:txBody>
          <a:bodyPr anchor="b">
            <a:normAutofit/>
          </a:bodyPr>
          <a:lstStyle/>
          <a:p>
            <a:r>
              <a:rPr lang="fr-FR" sz="3500" dirty="0">
                <a:solidFill>
                  <a:srgbClr val="FFFFFF"/>
                </a:solidFill>
              </a:rPr>
              <a:t>Contrats détaillés par service</a:t>
            </a:r>
            <a:br>
              <a:rPr lang="fr-FR" sz="3500" dirty="0">
                <a:solidFill>
                  <a:srgbClr val="FFFFFF"/>
                </a:solidFill>
              </a:rPr>
            </a:br>
            <a:br>
              <a:rPr lang="fr-FR" sz="3500" dirty="0">
                <a:solidFill>
                  <a:srgbClr val="FFFFFF"/>
                </a:solidFill>
              </a:rPr>
            </a:br>
            <a:r>
              <a:rPr lang="fr-FR" sz="2000" dirty="0">
                <a:solidFill>
                  <a:schemeClr val="bg1"/>
                </a:solidFill>
              </a:rPr>
              <a:t>Situation détaillée par service.</a:t>
            </a:r>
            <a:br>
              <a:rPr lang="fr-FR" sz="2000" dirty="0">
                <a:solidFill>
                  <a:schemeClr val="bg1"/>
                </a:solidFill>
              </a:rPr>
            </a:br>
            <a:r>
              <a:rPr lang="fr-FR" sz="2000" dirty="0">
                <a:solidFill>
                  <a:schemeClr val="bg1"/>
                </a:solidFill>
              </a:rPr>
              <a:t>Disparités dans Consultant et Marketing avec davantage de femmes en CDD.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C39B8DA-A796-6949-01E0-8B5442E94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294" y="379537"/>
            <a:ext cx="5894420" cy="60648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Promotions internes globales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31" y="806824"/>
            <a:ext cx="2189804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Taux global promotions internes par genre équilibré (femmes : 17,6%, hommes : 16,79%).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A9DCF2D-0660-15A7-BA80-CCBFAFF4F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052" y="427703"/>
            <a:ext cx="5752716" cy="59662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Promotions internes par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31" y="806824"/>
            <a:ext cx="2189804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Écarts marqués dans RH et Informatique.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FCDA764-A807-E327-850C-BD8D97741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581749"/>
            <a:ext cx="5419311" cy="56884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Accidents du travail globaux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31" y="806824"/>
            <a:ext cx="2189804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Répartition équilibrée mais surveillance nécessaire.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6FCC708-F717-BA31-6EDF-6F871439C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1837077"/>
            <a:ext cx="5419311" cy="31838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Accidents du travail par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31" y="806824"/>
            <a:ext cx="2189804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Hommes plus touchés dans Commercial, femmes dans Informatique.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73322E-9C34-029F-1DDB-52C3EE8A0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1457726"/>
            <a:ext cx="5419311" cy="39425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412" y="-1"/>
            <a:ext cx="3909949" cy="6883030"/>
            <a:chOff x="-19217" y="-1"/>
            <a:chExt cx="5213267" cy="68830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13" y="739835"/>
            <a:ext cx="2776935" cy="1616203"/>
          </a:xfrm>
        </p:spPr>
        <p:txBody>
          <a:bodyPr anchor="b">
            <a:normAutofit/>
          </a:bodyPr>
          <a:lstStyle/>
          <a:p>
            <a:r>
              <a:rPr lang="fr-FR" sz="2800">
                <a:solidFill>
                  <a:srgbClr val="FFFFFF"/>
                </a:solidFill>
              </a:rPr>
              <a:t>Écart salarial 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13" y="2459116"/>
            <a:ext cx="2776934" cy="3524823"/>
          </a:xfrm>
        </p:spPr>
        <p:txBody>
          <a:bodyPr>
            <a:normAutofit/>
          </a:bodyPr>
          <a:lstStyle/>
          <a:p>
            <a:r>
              <a:rPr lang="fr-FR" sz="1700">
                <a:solidFill>
                  <a:srgbClr val="FFFFFF"/>
                </a:solidFill>
              </a:rPr>
              <a:t>Écart moyen de salaire global Hommes/Femmes.</a:t>
            </a:r>
          </a:p>
          <a:p>
            <a:r>
              <a:rPr lang="fr-FR" sz="1700">
                <a:solidFill>
                  <a:srgbClr val="FFFFFF"/>
                </a:solidFill>
              </a:rPr>
              <a:t>Les hommes gagnent légèrement plus en moyenne que les femmes (5593 vs 5443 euros EQTP).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B33A386-709D-79EF-3783-B08D3ABD2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780" y="1044579"/>
            <a:ext cx="5173220" cy="49393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412" y="303922"/>
            <a:ext cx="6827176" cy="642838"/>
          </a:xfrm>
        </p:spPr>
        <p:txBody>
          <a:bodyPr anchor="b">
            <a:normAutofit/>
          </a:bodyPr>
          <a:lstStyle/>
          <a:p>
            <a:r>
              <a:rPr lang="fr-FR" sz="3500" dirty="0"/>
              <a:t>Écart salarial par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527" y="946760"/>
            <a:ext cx="8741418" cy="704498"/>
          </a:xfrm>
        </p:spPr>
        <p:txBody>
          <a:bodyPr anchor="t">
            <a:normAutofit/>
          </a:bodyPr>
          <a:lstStyle/>
          <a:p>
            <a:r>
              <a:rPr lang="fr-FR" sz="1700" dirty="0"/>
              <a:t>Analyse détaillée par service.</a:t>
            </a:r>
          </a:p>
          <a:p>
            <a:r>
              <a:rPr lang="fr-FR" sz="1700" dirty="0"/>
              <a:t>Disparités notables dans certains services tels que Commercial et Informatique.</a:t>
            </a:r>
          </a:p>
        </p:txBody>
      </p:sp>
      <p:pic>
        <p:nvPicPr>
          <p:cNvPr id="4" name="Image 3" descr="Une image contenant diagramme, Parallèle, ligne, Rectangle&#10;&#10;Le contenu généré par l’IA peut être incorrect.">
            <a:extLst>
              <a:ext uri="{FF2B5EF4-FFF2-40B4-BE49-F238E27FC236}">
                <a16:creationId xmlns:a16="http://schemas.microsoft.com/office/drawing/2014/main" id="{FF0E48E6-B2FD-BB42-A163-61E26A643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96" y="1589598"/>
            <a:ext cx="8132859" cy="4769626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4687789"/>
          </a:xfrm>
        </p:spPr>
        <p:txBody>
          <a:bodyPr anchor="b">
            <a:normAutofit/>
          </a:bodyPr>
          <a:lstStyle/>
          <a:p>
            <a:r>
              <a:rPr lang="fr-FR" sz="3500" dirty="0">
                <a:solidFill>
                  <a:srgbClr val="FFFFFF"/>
                </a:solidFill>
              </a:rPr>
              <a:t>Zoom sur les hauts salaires</a:t>
            </a:r>
            <a:br>
              <a:rPr lang="fr-FR" sz="3500" dirty="0">
                <a:solidFill>
                  <a:srgbClr val="FFFFFF"/>
                </a:solidFill>
              </a:rPr>
            </a:br>
            <a:br>
              <a:rPr lang="fr-FR" sz="1800" dirty="0">
                <a:solidFill>
                  <a:schemeClr val="bg1"/>
                </a:solidFill>
              </a:rPr>
            </a:br>
            <a:r>
              <a:rPr lang="fr-FR" sz="1800" dirty="0">
                <a:solidFill>
                  <a:schemeClr val="bg1"/>
                </a:solidFill>
              </a:rPr>
              <a:t>Analyse des 10 plus hauts salaires par sexe et service.</a:t>
            </a:r>
            <a:br>
              <a:rPr lang="fr-FR" sz="1800" dirty="0">
                <a:solidFill>
                  <a:schemeClr val="bg1"/>
                </a:solidFill>
              </a:rPr>
            </a:br>
            <a:br>
              <a:rPr lang="fr-FR" sz="1800" dirty="0">
                <a:solidFill>
                  <a:schemeClr val="bg1"/>
                </a:solidFill>
              </a:rPr>
            </a:br>
            <a:r>
              <a:rPr lang="fr-FR" sz="1800" dirty="0">
                <a:solidFill>
                  <a:schemeClr val="bg1"/>
                </a:solidFill>
              </a:rPr>
              <a:t>Majorité masculine dans les hauts revenus.</a:t>
            </a:r>
            <a:br>
              <a:rPr lang="fr-FR" sz="1800" dirty="0">
                <a:solidFill>
                  <a:schemeClr val="bg1"/>
                </a:solidFill>
              </a:rPr>
            </a:br>
            <a:endParaRPr lang="fr-FR" sz="1800" dirty="0">
              <a:solidFill>
                <a:schemeClr val="bg1"/>
              </a:solidFill>
            </a:endParaRPr>
          </a:p>
        </p:txBody>
      </p:sp>
      <p:pic>
        <p:nvPicPr>
          <p:cNvPr id="4" name="Image 3" descr="Une image contenant texte, capture d’écran, nombre, reçu&#10;&#10;Le contenu généré par l’IA peut être incorrect.">
            <a:extLst>
              <a:ext uri="{FF2B5EF4-FFF2-40B4-BE49-F238E27FC236}">
                <a16:creationId xmlns:a16="http://schemas.microsoft.com/office/drawing/2014/main" id="{D6813EA2-7EA2-0361-8803-50F940C13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532" y="1222408"/>
            <a:ext cx="5940468" cy="4552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Synthèse du score égalité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Présentation du score final. Comparaison avec objectifs et performances antérieures.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258E129-1F0C-7662-2DF7-546EDB22B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588817"/>
            <a:ext cx="8495662" cy="32071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FR" sz="3500">
                <a:solidFill>
                  <a:srgbClr val="FFFFFF"/>
                </a:solidFill>
              </a:rPr>
              <a:t>Recommandations et actions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77060C-1707-D182-B150-FABC2E50AA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379344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318</Words>
  <Application>Microsoft Macintosh PowerPoint</Application>
  <PresentationFormat>Affichage à l'écran (4:3)</PresentationFormat>
  <Paragraphs>38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Diagnostic Égalité Femmes-Hommes</vt:lpstr>
      <vt:lpstr>Sommaire</vt:lpstr>
      <vt:lpstr>Introduction</vt:lpstr>
      <vt:lpstr>Méthodologie utilisée</vt:lpstr>
      <vt:lpstr>Effectifs globaux</vt:lpstr>
      <vt:lpstr>Effectifs par service</vt:lpstr>
      <vt:lpstr>Types de contrats globaux  Répartition CDI/CDD par genre. CDD plus élevé chez les femmes (8,8%) que chez les hommes (3,8%).</vt:lpstr>
      <vt:lpstr>Contrats détaillés par service  Situation détaillée par service. Disparités dans Consultant et Marketing avec davantage de femmes en CDD.</vt:lpstr>
      <vt:lpstr>Promotions internes globales</vt:lpstr>
      <vt:lpstr>Promotions internes par service</vt:lpstr>
      <vt:lpstr>Accidents du travail globaux</vt:lpstr>
      <vt:lpstr>Accidents du travail par service</vt:lpstr>
      <vt:lpstr>Écart salarial global</vt:lpstr>
      <vt:lpstr>Écart salarial par service</vt:lpstr>
      <vt:lpstr>Zoom sur les hauts salaires  Analyse des 10 plus hauts salaires par sexe et service.  Majorité masculine dans les hauts revenus. </vt:lpstr>
      <vt:lpstr>Synthèse du score égalité</vt:lpstr>
      <vt:lpstr>Recommandations et actions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antoine baude</cp:lastModifiedBy>
  <cp:revision>6</cp:revision>
  <dcterms:created xsi:type="dcterms:W3CDTF">2013-01-27T09:14:16Z</dcterms:created>
  <dcterms:modified xsi:type="dcterms:W3CDTF">2025-03-26T07:14:12Z</dcterms:modified>
  <cp:category/>
</cp:coreProperties>
</file>